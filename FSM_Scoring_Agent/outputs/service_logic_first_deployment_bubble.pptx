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custom-properties" Target="docProps/custom.xml"/><Relationship Id="R916bf13056b046bc" Type="http://schemas.openxmlformats.org/officeDocument/2006/relationships/officeDocument" Target="/ppt/presentation.xml"/><Relationship Id="Re79364628088465b" Type="http://schemas.openxmlformats.org/package/2006/relationships/metadata/core-properties" Target="/docProps/core.xml"/><Relationship Id="R3830110796bd43a0" Type="http://schemas.openxmlformats.org/officeDocument/2006/relationships/extended-properties" Target="/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65c6e56b144c15"/>
  </p:sldMasterIdLst>
  <p:notesMasterIdLst>
    <p:notesMasterId xmlns:r="http://schemas.openxmlformats.org/officeDocument/2006/relationships" r:id="Rf743887a41944ad2"/>
  </p:notesMasterIdLst>
  <p:sldIdLst>
    <p:sldId xmlns:r="http://schemas.openxmlformats.org/officeDocument/2006/relationships" id="256" r:id="R930654e17bb04fdb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802feed4454b43df" Type="http://schemas.openxmlformats.org/officeDocument/2006/relationships/tableStyles" Target="/ppt/tableStyles.xml"/><Relationship Id="rId3" Type="http://schemas.openxmlformats.org/officeDocument/2006/relationships/customXml" Target="../customXml/item3.xml"/><Relationship Id="Rf743887a41944ad2" Type="http://schemas.openxmlformats.org/officeDocument/2006/relationships/notesMaster" Target="/ppt/notesMasters/notesMaster1.xml"/><Relationship Id="R9d65c6e56b144c15" Type="http://schemas.openxmlformats.org/officeDocument/2006/relationships/slideMaster" Target="/ppt/slideMasters/slideMaster1.xml"/><Relationship Id="R54efb03aa513493a" Type="http://schemas.openxmlformats.org/officeDocument/2006/relationships/presProps" Target="/ppt/presProps.xml"/><Relationship Id="R930654e17bb04fdb" Type="http://schemas.openxmlformats.org/officeDocument/2006/relationships/slide" Target="/ppt/slides/slid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bc0c3c73e8874d10" Type="http://schemas.openxmlformats.org/officeDocument/2006/relationships/theme" Target="/ppt/theme/theme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5d1b1cca9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78545" dir="4557825">
              <a:srgbClr val="12355B">
                <a:alpha val="10000"/>
              </a:srgbClr>
            </a:outerShdw>
          </a:effectLst>
        </a:effectStyle>
        <a:effectStyle>
          <a:effectLst>
            <a:outerShdw blurRad="190500" dist="78545" dir="4557825">
              <a:srgbClr val="12355B">
                <a:alpha val="22000"/>
              </a:srgbClr>
            </a:outerShdw>
          </a:effectLst>
        </a:effectStyle>
        <a:effectStyle>
          <a:effectLst>
            <a:outerShdw blurRad="152400" dist="48568" dir="4721404">
              <a:srgbClr val="23364D">
                <a:alpha val="10000"/>
              </a:srgbClr>
            </a:outerShdw>
          </a:effectLst>
        </a:effectStyle>
        <a:effectStyle>
          <a:effectLst>
            <a:outerShdw blurRad="209550" dist="78545" dir="4557825">
              <a:srgbClr val="12355B">
                <a:alpha val="9000"/>
              </a:srgbClr>
            </a:outerShdw>
          </a:effectLst>
        </a:effectStyle>
        <a:effectStyle>
          <a:effectLst>
            <a:outerShdw blurRad="142875" dist="48568" dir="4721404">
              <a:srgbClr val="23364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16dc6e6ac4c99" /><Relationship Type="http://schemas.openxmlformats.org/officeDocument/2006/relationships/notesMaster" Target="/ppt/notesMasters/notesMaster1.xml" Id="R604f1d7f2e96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d25b7fd80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441f38f9984bd5" /><Relationship Type="http://schemas.openxmlformats.org/officeDocument/2006/relationships/slideLayout" Target="/ppt/slideLayouts/slideLayout1.xml" Id="R842b047e94fc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b047e94fc47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78545" dir="4557825">
              <a:srgbClr val="12355B">
                <a:alpha val="10000"/>
              </a:srgbClr>
            </a:outerShdw>
          </a:effectLst>
        </a:effectStyle>
        <a:effectStyle>
          <a:effectLst>
            <a:outerShdw blurRad="190500" dist="78545" dir="4557825">
              <a:srgbClr val="12355B">
                <a:alpha val="22000"/>
              </a:srgbClr>
            </a:outerShdw>
          </a:effectLst>
        </a:effectStyle>
        <a:effectStyle>
          <a:effectLst>
            <a:outerShdw blurRad="152400" dist="48568" dir="4721404">
              <a:srgbClr val="23364D">
                <a:alpha val="10000"/>
              </a:srgbClr>
            </a:outerShdw>
          </a:effectLst>
        </a:effectStyle>
        <a:effectStyle>
          <a:effectLst>
            <a:outerShdw blurRad="209550" dist="78545" dir="4557825">
              <a:srgbClr val="12355B">
                <a:alpha val="9000"/>
              </a:srgbClr>
            </a:outerShdw>
          </a:effectLst>
        </a:effectStyle>
        <a:effectStyle>
          <a:effectLst>
            <a:outerShdw blurRad="142875" dist="48568" dir="4721404">
              <a:srgbClr val="23364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96771fe564071" /><Relationship Type="http://schemas.openxmlformats.org/officeDocument/2006/relationships/notesSlide" Target="/ppt/notesSlides/notesSlide1.xml" Id="R6fd3e377d6c3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2E80FF-9540-4B31-BE0F-C4A4471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SERVICE LOGIC · PROGRAM WORKBACK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F233D-E8C0-411E-AD0A-C986E826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7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3223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32236"/>
                </a:solidFill>
                <a:latin typeface="Aptos Display"/>
                <a:ea typeface="Aptos Display"/>
                <a:cs typeface="Aptos Display"/>
              </a:rPr>
              <a:t>First Deployment Bubble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10B8D-883D-4FD9-9DC4-693D057A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Non-negotiables that must move together for the first pilot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CFF4F-099E-4130-B93A-5CB9005B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Q1 2027 target referenced in discussion; ERP named generically because sources conflict on platform.</a:t>
            </a:r>
          </a:p>
        </p:txBody>
      </p:sp>
      <p:sp>
        <p:nvSpPr>
          <p:cNvPr id="5" name="program-bubble">
            <a:extLst xmlns:a="http://schemas.openxmlformats.org/drawingml/2006/main">
              <a:ext uri="{FF2B5EF4-FFF2-40B4-BE49-F238E27FC236}">
                <a16:creationId xmlns:a16="http://schemas.microsoft.com/office/drawing/2014/main" id="{6EB3B01B-9DD4-4B92-AF4E-C9F94AB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906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2857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governance-ring">
            <a:extLst xmlns:a="http://schemas.openxmlformats.org/drawingml/2006/main">
              <a:ext uri="{FF2B5EF4-FFF2-40B4-BE49-F238E27FC236}">
                <a16:creationId xmlns:a16="http://schemas.microsoft.com/office/drawing/2014/main" id="{92D6A8D2-E81A-4980-B1C8-C377835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8763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D2CC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CE6DE-752B-4065-9809-8C35E8F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single program bubble, not separate phase-two plans</a:t>
            </a:r>
          </a:p>
        </p:txBody>
      </p:sp>
      <p:sp>
        <p:nvSpPr>
          <p:cNvPr id="8" name="pilot-go-live-outcome">
            <a:extLst xmlns:a="http://schemas.openxmlformats.org/drawingml/2006/main">
              <a:ext uri="{FF2B5EF4-FFF2-40B4-BE49-F238E27FC236}">
                <a16:creationId xmlns:a16="http://schemas.microsoft.com/office/drawing/2014/main" id="{631684DE-8F16-49E4-8AEB-EE00A3F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352425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19050">
            <a:solidFill>
              <a:srgbClr val="1235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91E77-0BBD-420D-B9B3-4C8D9E6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25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Go-Live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EE970-0AC6-44DD-9541-1876E06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624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15" b="0">
                <a:solidFill>
                  <a:srgbClr val="D8E7F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D8E7F3"/>
                </a:solidFill>
                <a:latin typeface="Aptos"/>
                <a:ea typeface="Aptos"/>
                <a:cs typeface="Aptos"/>
              </a:rPr>
              <a:t>FSM/ERP ecosystem ready as one release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15" b="0">
                <a:solidFill>
                  <a:srgbClr val="D8E7F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D8E7F3"/>
                </a:solidFill>
                <a:latin typeface="Aptos"/>
                <a:ea typeface="Aptos"/>
                <a:cs typeface="Aptos"/>
              </a:rPr>
              <a:t>work backward to owners, decisions, and dependencies</a:t>
            </a:r>
          </a:p>
        </p:txBody>
      </p:sp>
      <p:sp>
        <p:nvSpPr>
          <p:cNvPr id="11" name="bubble-1">
            <a:extLst xmlns:a="http://schemas.openxmlformats.org/drawingml/2006/main">
              <a:ext uri="{FF2B5EF4-FFF2-40B4-BE49-F238E27FC236}">
                <a16:creationId xmlns:a16="http://schemas.microsoft.com/office/drawing/2014/main" id="{3E14FE2A-0600-4168-B973-A4C03D86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3812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21431">
            <a:solidFill>
              <a:srgbClr val="C989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667CD-9E60-4180-975B-46212A6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574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989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9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04B0F-43D5-4648-8A24-B9891B40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57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FSM + ERP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6475E-7E67-41D8-BCB6-5DAEF46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289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Pilot-scope workflows, single-tenant gates, no data layer as phase two</a:t>
            </a:r>
          </a:p>
        </p:txBody>
      </p:sp>
      <p:sp>
        <p:nvSpPr>
          <p:cNvPr id="15" name="bubble-2">
            <a:extLst xmlns:a="http://schemas.openxmlformats.org/drawingml/2006/main">
              <a:ext uri="{FF2B5EF4-FFF2-40B4-BE49-F238E27FC236}">
                <a16:creationId xmlns:a16="http://schemas.microsoft.com/office/drawing/2014/main" id="{43541158-A4F1-429E-B067-7E3D1086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238125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1431">
            <a:solidFill>
              <a:srgbClr val="4D79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D54F4-F7A0-4D0A-BC93-0949F91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4D79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79B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1816-3508-4B2F-BBE9-2FA8A6A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145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69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iPaaS / Exchange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100E8-9D8B-47E6-A76F-73A11C74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4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Event + API integration; publish once, reuse everywhere; no point-to-point</a:t>
            </a:r>
          </a:p>
        </p:txBody>
      </p:sp>
      <p:sp>
        <p:nvSpPr>
          <p:cNvPr id="19" name="bubble-3">
            <a:extLst xmlns:a="http://schemas.openxmlformats.org/drawingml/2006/main">
              <a:ext uri="{FF2B5EF4-FFF2-40B4-BE49-F238E27FC236}">
                <a16:creationId xmlns:a16="http://schemas.microsoft.com/office/drawing/2014/main" id="{BD3E783A-0E75-4818-BEB6-D7A81AB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24100"/>
            <a:ext cx="24765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4E7"/>
          </a:solidFill>
          <a:ln xmlns:a="http://schemas.openxmlformats.org/drawingml/2006/main" w="21431">
            <a:solidFill>
              <a:srgbClr val="4C9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89841-9AE2-4CF7-99FB-5947FD9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860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4C9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915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D7329-4BDE-478F-BE22-237D128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860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54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MDM + Golden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1D274-0C46-48BA-8A68-FBD5893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575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19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Customer, site, asset, vendor, product domains; ownership and lifecycle rules</a:t>
            </a:r>
          </a:p>
        </p:txBody>
      </p:sp>
      <p:sp>
        <p:nvSpPr>
          <p:cNvPr id="23" name="bubble-4">
            <a:extLst xmlns:a="http://schemas.openxmlformats.org/drawingml/2006/main">
              <a:ext uri="{FF2B5EF4-FFF2-40B4-BE49-F238E27FC236}">
                <a16:creationId xmlns:a16="http://schemas.microsoft.com/office/drawing/2014/main" id="{4DFC3E43-23FD-4179-A164-D683E404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95750"/>
            <a:ext cx="2428875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2"/>
          </a:solidFill>
          <a:ln xmlns:a="http://schemas.openxmlformats.org/drawingml/2006/main" w="21431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94808-6669-4496-82BD-80A0B60C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576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622FC-6E80-4061-8416-3E8D021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576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2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Lakehouse + Catalog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61308-D21B-4D50-9F09-3C5E9A8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629150"/>
            <a:ext cx="1781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Bronze mirror, silver/gold persona layers, lineage, metadata, Unity Catalog</a:t>
            </a:r>
          </a:p>
        </p:txBody>
      </p:sp>
      <p:sp>
        <p:nvSpPr>
          <p:cNvPr id="27" name="bubble-5">
            <a:extLst xmlns:a="http://schemas.openxmlformats.org/drawingml/2006/main">
              <a:ext uri="{FF2B5EF4-FFF2-40B4-BE49-F238E27FC236}">
                <a16:creationId xmlns:a16="http://schemas.microsoft.com/office/drawing/2014/main" id="{CB9EC241-F2FA-4C5C-A00F-39FB035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019800"/>
            <a:ext cx="25717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4DE"/>
          </a:solidFill>
          <a:ln xmlns:a="http://schemas.openxmlformats.org/drawingml/2006/main" w="21431">
            <a:solidFill>
              <a:srgbClr val="CF63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5160BE-396C-4F98-B709-D479254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181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F63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634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B5EB2-8431-4443-A270-ED580AAA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81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KPI + 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A9F83-A7BD-4147-8684-3C981503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55320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54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Golden KPI tree, work-type definitions, persona dashboards, enterprise views</a:t>
            </a:r>
          </a:p>
        </p:txBody>
      </p:sp>
      <p:sp>
        <p:nvSpPr>
          <p:cNvPr id="31" name="bubble-6">
            <a:extLst xmlns:a="http://schemas.openxmlformats.org/drawingml/2006/main">
              <a:ext uri="{FF2B5EF4-FFF2-40B4-BE49-F238E27FC236}">
                <a16:creationId xmlns:a16="http://schemas.microsoft.com/office/drawing/2014/main" id="{CA376D4D-9F40-4968-8B39-B8C57B0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096000"/>
            <a:ext cx="25717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431">
            <a:solidFill>
              <a:srgbClr val="75819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A01BD-B917-49DD-B291-86C739B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57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581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5819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0C071-73C4-45B7-8300-02333FB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57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98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CRM / Payroll / Sources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B288FC-F49D-4210-98BC-022BA51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62940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48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Salesforce, payroll, procurement, legacy OpCo feeds connected through exchange</a:t>
            </a:r>
          </a:p>
        </p:txBody>
      </p:sp>
      <p:sp>
        <p:nvSpPr>
          <p:cNvPr id="35" name="bubble-7">
            <a:extLst xmlns:a="http://schemas.openxmlformats.org/drawingml/2006/main">
              <a:ext uri="{FF2B5EF4-FFF2-40B4-BE49-F238E27FC236}">
                <a16:creationId xmlns:a16="http://schemas.microsoft.com/office/drawing/2014/main" id="{89378474-ABCA-4C31-8CF9-C676006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245745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21431">
            <a:solidFill>
              <a:srgbClr val="7C5A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D5716-53CC-48FA-A351-A8E5A8E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24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7C5A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5AC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D7071-8745-4759-A1C6-A1E8E718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245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AI Sandboxes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595AC4-0ABA-48E3-98BA-44F13FA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960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75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LLM gateway, governed pilots, reusable models; prove before production attach</a:t>
            </a:r>
          </a:p>
        </p:txBody>
      </p:sp>
      <p:sp>
        <p:nvSpPr>
          <p:cNvPr id="39" name="bubble-8">
            <a:extLst xmlns:a="http://schemas.openxmlformats.org/drawingml/2006/main">
              <a:ext uri="{FF2B5EF4-FFF2-40B4-BE49-F238E27FC236}">
                <a16:creationId xmlns:a16="http://schemas.microsoft.com/office/drawing/2014/main" id="{D7524DB7-E393-4CB5-93DE-110E0A9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2476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0D8"/>
          </a:solidFill>
          <a:ln xmlns:a="http://schemas.openxmlformats.org/drawingml/2006/main" w="21431">
            <a:solidFill>
              <a:srgbClr val="8E80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C34C71-B0F4-4596-84F1-4178106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528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8E80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803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7AAD1D-EDFB-48B2-8994-3239284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52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1D808-F840-4148-A79B-580A2E4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32236"/>
                </a:solidFill>
                <a:latin typeface="Aptos"/>
                <a:ea typeface="Aptos"/>
                <a:cs typeface="Aptos"/>
              </a:rPr>
              <a:t>COE hub + OpCo spokes; build, deploy, sustain, govern, and change roles</a:t>
            </a:r>
          </a:p>
        </p:txBody>
      </p:sp>
      <p:cxnSp>
        <p:nvCxnSpPr>
          <p:cNvPr id="118" name=""/>
          <p:cNvCxnSpPr>
            <a:stCxn xmlns:a="http://schemas.openxmlformats.org/drawingml/2006/main" id="8" idx="1"/>
            <a:endCxn xmlns:a="http://schemas.openxmlformats.org/drawingml/2006/main" id="11" idx="5"/>
          </p:cNvCxnSpPr>
          <p:nvPr/>
        </p:nvCxnSpPr>
        <p:spPr>
          <a:xfrm xmlns:a="http://schemas.openxmlformats.org/drawingml/2006/main" flipH="1" flipV="1">
            <a:off x="3575574" y="3184933"/>
            <a:ext cx="798165" cy="75858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19" name=""/>
          <p:cNvCxnSpPr>
            <a:stCxn xmlns:a="http://schemas.openxmlformats.org/drawingml/2006/main" id="8" idx="0"/>
            <a:endCxn xmlns:a="http://schemas.openxmlformats.org/drawingml/2006/main" id="15" idx="4"/>
          </p:cNvCxnSpPr>
          <p:nvPr/>
        </p:nvCxnSpPr>
        <p:spPr>
          <a:xfrm xmlns:a="http://schemas.openxmlformats.org/drawingml/2006/main" flipH="1" flipV="1">
            <a:off x="5591175" y="3448050"/>
            <a:ext cx="2857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0" name=""/>
          <p:cNvCxnSpPr>
            <a:stCxn xmlns:a="http://schemas.openxmlformats.org/drawingml/2006/main" id="8" idx="7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V="1">
            <a:off x="6865761" y="3478574"/>
            <a:ext cx="783539" cy="46494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1" name=""/>
          <p:cNvCxnSpPr>
            <a:stCxn xmlns:a="http://schemas.openxmlformats.org/drawingml/2006/main" id="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7381875" y="4495800"/>
            <a:ext cx="3810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8" idx="5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865761" y="5048086"/>
            <a:ext cx="416489" cy="116421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8" idx="4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5334000" y="5276850"/>
            <a:ext cx="28575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8" idx="3"/>
            <a:endCxn xmlns:a="http://schemas.openxmlformats.org/drawingml/2006/main" id="35" idx="7"/>
          </p:cNvCxnSpPr>
          <p:nvPr/>
        </p:nvCxnSpPr>
        <p:spPr>
          <a:xfrm xmlns:a="http://schemas.openxmlformats.org/drawingml/2006/main" flipH="1">
            <a:off x="3412015" y="5048086"/>
            <a:ext cx="961725" cy="70980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cxnSp>
        <p:nvCxnSpPr>
          <p:cNvPr id="125" name=""/>
          <p:cNvCxnSpPr>
            <a:stCxn xmlns:a="http://schemas.openxmlformats.org/drawingml/2006/main" id="8" idx="2"/>
            <a:endCxn xmlns:a="http://schemas.openxmlformats.org/drawingml/2006/main" id="39" idx="6"/>
          </p:cNvCxnSpPr>
          <p:nvPr/>
        </p:nvCxnSpPr>
        <p:spPr>
          <a:xfrm xmlns:a="http://schemas.openxmlformats.org/drawingml/2006/main" flipH="1" flipV="1">
            <a:off x="3600450" y="4457700"/>
            <a:ext cx="2571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AB7C4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70F53A-D5D8-4631-AA83-10E58083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5247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1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1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 gates: no point-to-point · no phase-two data layer · security/SOX + tenancy in first release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206750-2C8C-43E9-AF0E-7ECE6D96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314450"/>
            <a:ext cx="3848100" cy="66675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46EE37-5516-4C0D-802A-5B09963B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600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Work Backward From 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59CD36-4CE8-4D55-8294-B94EDA5E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5262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9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The bubble becomes a dependency map, not just an architecture sketch.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415E09-830D-4578-8D64-FB33FD3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24125"/>
            <a:ext cx="32194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3F86B2-C57C-44EC-9ECE-86199E0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24125"/>
            <a:ext cx="66675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D79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AB3A49-7EF4-439C-AE62-5FD02E8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479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Decisions To Lock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8AA430-0148-4B23-964A-48BF863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33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9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69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iPaaS standard; MDM tool / domains; Lakehouse patterns; SI structure; pilot MVP scope.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0751FF-1463-49AA-93BD-03AA475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67125"/>
            <a:ext cx="32194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22CBBD-856A-4411-A410-96B31CD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67125"/>
            <a:ext cx="66675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DC383A-0E6E-44C6-BCCA-35ADAF9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909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Owners To Name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66C52F-05DF-4ACC-B9FF-1164796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76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6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9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69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Single architecture owner; data / MDM leads; integration lead; OpCo spokes; sustainment owners.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6FBA98-60EA-462F-BE37-FBF9611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10125"/>
            <a:ext cx="32194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1A9132-7DA6-4F7C-BECA-2F640846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10125"/>
            <a:ext cx="66675" cy="10001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98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9CC8DA-E5EA-4038-8C48-20405839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339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Dependencies To Track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23AF4C-CA1B-4BDD-B08C-1742D2A9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19700"/>
            <a:ext cx="2895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9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69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FSM selection; ERP path; Salesforce adoption; payroll/time coding; data readiness; KPI definitions.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8247A0-FF21-4755-90BB-223088F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48375"/>
            <a:ext cx="32194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9E501B-5636-42EE-B60E-9DB8023A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48375"/>
            <a:ext cx="66675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F63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B867AF-EA96-407C-81BE-330C4BFC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7220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Capacity To Staff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B9A606-EF87-4A53-B496-33ADB2D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9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69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Data engineering, MDM design, iPaaS build, reporting, AI governance, change management.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9E3E85-340D-4F24-AFC8-8A30036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3219450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3867FA-A732-480F-867F-3C18A81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66675" cy="7905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54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3B6B4B-33E9-44D8-A576-C09D2920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153275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2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6"/>
                </a:solidFill>
                <a:latin typeface="Aptos"/>
                <a:ea typeface="Aptos"/>
                <a:cs typeface="Aptos"/>
              </a:rPr>
              <a:t>Gate For Pilot Go-Live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102668-27AB-4167-97EC-161B9B44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439025"/>
            <a:ext cx="289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9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69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No go-live without integration, data, KPI, governance, and sustainment path.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734A96-6151-4F41-A56D-ACA81F58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Sources: Data Discussion transcript, SI/data-layer approach, capability matrix, Unity Catalog data dictionary, KPI gap analysis, RFP context.</a:t>
            </a:r>
          </a:p>
        </p:txBody>
      </p:sp>
    </p:spTree>
    <p:extLst>
      <p:ext uri="{BB962C8B-B14F-4D97-AF65-F5344CB8AC3E}">
        <p14:creationId xmlns:p14="http://schemas.microsoft.com/office/powerpoint/2010/main" val="2076566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78545" dir="4557825">
              <a:srgbClr val="12355B">
                <a:alpha val="10000"/>
              </a:srgbClr>
            </a:outerShdw>
          </a:effectLst>
        </a:effectStyle>
        <a:effectStyle>
          <a:effectLst>
            <a:outerShdw blurRad="190500" dist="78545" dir="4557825">
              <a:srgbClr val="12355B">
                <a:alpha val="22000"/>
              </a:srgbClr>
            </a:outerShdw>
          </a:effectLst>
        </a:effectStyle>
        <a:effectStyle>
          <a:effectLst>
            <a:outerShdw blurRad="152400" dist="48568" dir="4721404">
              <a:srgbClr val="23364D">
                <a:alpha val="10000"/>
              </a:srgbClr>
            </a:outerShdw>
          </a:effectLst>
        </a:effectStyle>
        <a:effectStyle>
          <a:effectLst>
            <a:outerShdw blurRad="209550" dist="78545" dir="4557825">
              <a:srgbClr val="12355B">
                <a:alpha val="9000"/>
              </a:srgbClr>
            </a:outerShdw>
          </a:effectLst>
        </a:effectStyle>
        <a:effectStyle>
          <a:effectLst>
            <a:outerShdw blurRad="142875" dist="48568" dir="4721404">
              <a:srgbClr val="23364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5455CC98BD0342826F1A3913CCF5D3" ma:contentTypeVersion="11" ma:contentTypeDescription="Create a new document." ma:contentTypeScope="" ma:versionID="4ec180e4abf5a698b3b4504f0707190a">
  <xsd:schema xmlns:xsd="http://www.w3.org/2001/XMLSchema" xmlns:xs="http://www.w3.org/2001/XMLSchema" xmlns:p="http://schemas.microsoft.com/office/2006/metadata/properties" xmlns:ns2="d07df95a-922b-4aef-9484-cf4f859add6e" xmlns:ns3="769b9b63-6a44-426e-ae8c-6f3496cc6aee" targetNamespace="http://schemas.microsoft.com/office/2006/metadata/properties" ma:root="true" ma:fieldsID="a5ffcec10a5b8664afc32198f541db9e" ns2:_="" ns3:_="">
    <xsd:import namespace="d07df95a-922b-4aef-9484-cf4f859add6e"/>
    <xsd:import namespace="769b9b63-6a44-426e-ae8c-6f3496cc6a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df95a-922b-4aef-9484-cf4f859add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7fa498-aaa5-46e3-91a2-4ffb37e3b0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b9b63-6a44-426e-ae8c-6f3496cc6ae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7b78c40-6300-48d1-9910-bec270a088eb}" ma:internalName="TaxCatchAll" ma:showField="CatchAllData" ma:web="769b9b63-6a44-426e-ae8c-6f3496cc6a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9b9b63-6a44-426e-ae8c-6f3496cc6aee" xsi:nil="true"/>
    <lcf76f155ced4ddcb4097134ff3c332f xmlns="d07df95a-922b-4aef-9484-cf4f859add6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50794C4-4B56-4613-A8C4-A1B89E8238BF}"/>
</file>

<file path=customXml/itemProps2.xml><?xml version="1.0" encoding="utf-8"?>
<ds:datastoreItem xmlns:ds="http://schemas.openxmlformats.org/officeDocument/2006/customXml" ds:itemID="{655B95AF-73A7-4E85-AE57-44F15B4F1444}"/>
</file>

<file path=customXml/itemProps3.xml><?xml version="1.0" encoding="utf-8"?>
<ds:datastoreItem xmlns:ds="http://schemas.openxmlformats.org/officeDocument/2006/customXml" ds:itemID="{0ACE569E-F4BD-4AF3-A7B2-644BDEF4FD62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2026-06-19T14:56:59Z</dcterms:created>
  <dcterms:modified xsi:type="dcterms:W3CDTF">2026-06-19T14:56:59Z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0x010100CD5455CC98BD0342826F1A3913CCF5D3</vt:lpwstr>
  </property>
</Properties>
</file>